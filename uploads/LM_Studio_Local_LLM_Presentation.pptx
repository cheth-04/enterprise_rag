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1: LM Studio – Local LLM Platform
• LM Studio is a desktop application that lets you download and run large language models (LLMs) entirely on your local machine — no internet required once downloaded.
• It supports a wide range of open-source models including Google's Gemma, Meta's Llama, Alibaba's Qwen, and DeepSeek variants — covering instruction-tuned models for chat and code.
• The key feature: LM Studio exposes a built-in local HTTP server that is fully compatible with OpenAI's API format. This means any tool or script written for OpenAI's API works out-of-the-box with LM Studio — just by swapping the base URL.
• Benefits for academic/teaching use:
   – Complete data privacy (nothing leaves your machine)
   – Works offline (no Wi-Fi needed for inference)
   – Zero API cost — no per-token billing
   – Full control over model selection and parameters
• The server runs on port 1234 by default. The base endpoint is: http://&lt;machine-ip&gt;:1234/v1
• Demonstration point: Show LM Studio UI, load a model, and verify the green server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2: Local Network Architecture
• This slide shows how all devices on the same Wi-Fi or LAN can talk to LM Studio running on one machine.
• LM Studio starts a local HTTP server on port 1234. Any device that can reach this machine over the network can send API calls to it.
• Devices that can connect: Android phones (via Chatbox AI app), laptops (browser, VS Code, scripts), anything with HTTP access.
• The API is OpenAI-compatible, so the exact same endpoints work:
   – GET /v1/models — lists available models
   – POST /v1/chat/completions — sends a chat message and gets a response
• Important: Make sure LM Studio is set to 'Listen on all interfaces' (not just localhost) so other devices on the network can connect.
• In the demo, find your machine's IP (e.g. 192.168.1.x) using `ifconfig` or `ip a`, then use that IP from other devices.
• No port-forwarding or public internet needed — this works entirely within the local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3: Ways to Access the LLM
This slide demonstrates that one running LM Studio instance can serve multiple tools simultaneously.
TILE 1 – Chatbox AI:
• A free mobile/desktop app available for Android, Windows, Mac, Linux, and web.
• Configure it by entering the Base URL: http://&lt;IP&gt;:1234/v1 — no API key required.
• Great for students without a coding background to interact with the model via chat.
TILE 2 – Browser API:
• Open the browser and type: http://&lt;IP&gt;:1234/v1/models
• This returns a JSON list of loaded models — useful for verifying the server is running.
• Also works with browser-based REST clients like Hoppscotch or Postman Web.
TILE 3 – Terminal via 'llm' CLI:
• The `llm` Python package by Simon Willison works with OpenAI-compatible servers.
• Install: pip install llm
• Run: llm chat -m openai/gemma --endpoint http://IP:1234/v1
• Great for power users and scripting use cases.
TILE 4 – VS Code + Continue extension:
• The Continue extension (free, open-source) adds AI code completion and chat to VS Code.
• Configure it to use a local OpenAI-compatible server (LM Studio) in config.json.
• Students can get in-editor AI completions without sharing their code with any cloud.
Key point: All four tools connect to the SAME LM Studio instance — one model, many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– Slide 4: Future Improvement – LiteLLM
• The current setup (direct access to LM Studio) works well for demos and small groups, but has limitations when scaled to 20–30 students in a lab.
• LiteLLM is a lightweight open-source proxy that sits in front of LM Studio (or any LLM backend) and adds enterprise-grade management features:
   1. API Keys per user — assign unique keys to each student; revoke anytime
   2. Rate Limiting — prevent any single user from consuming all GPU memory
   3. Usage Tracking — monitor who is using the model, how much, and when
   4. User Access Control — restrict which models different users can access
   5. Scalability — route to multiple backends (multiple GPUs or machines)
• Architecture: Students send requests to the LiteLLM gateway (still OpenAI-compatible API format). LiteLLM forwards them to LM Studio after checking keys and limits.
• This is a future improvement — not required for today's demo, but important if deploying this as a shared lab resource for a full class.
• LiteLLM can be installed via pip and run locally: pip install litellm
• Configured with a simple YAML file specifying models and user keys.
• Think of it as: LM Studio = the engine, LiteLLM = the traffic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7705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095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558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411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337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800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0"/>
            <a:ext cx="329184" cy="6583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57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  –  Local LLM Platform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2788920" y="804672"/>
            <a:ext cx="1645920" cy="768096"/>
          </a:xfrm>
          <a:prstGeom prst="rect">
            <a:avLst/>
          </a:prstGeom>
          <a:solidFill>
            <a:srgbClr val="4F46E5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228600" dist="50800" dir="8100000">
              <a:srgbClr val="4F46E5">
                <a:alpha val="8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88920" y="868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LM Studio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066544" y="1097280"/>
            <a:ext cx="713232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066544" y="1005840"/>
            <a:ext cx="0" cy="18288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434840" y="1097280"/>
            <a:ext cx="2039112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434840" y="1005840"/>
            <a:ext cx="0" cy="18288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2066544" y="1645920"/>
            <a:ext cx="713232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2066544" y="1188720"/>
            <a:ext cx="0" cy="91440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434840" y="1645920"/>
            <a:ext cx="2039112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434840" y="1188720"/>
            <a:ext cx="0" cy="91440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417320" y="804672"/>
            <a:ext cx="128016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804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Gemma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852160" y="804672"/>
            <a:ext cx="128016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804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Llama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417320" y="1901952"/>
            <a:ext cx="128016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17320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Qwen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852160" y="1901952"/>
            <a:ext cx="128016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0" y="1901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DeepSeek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65760" y="26334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2633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Local Model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938528" y="2862072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50592" y="27157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194560" y="26334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94560" y="2633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46E5"/>
                </a:solidFill>
              </a:rPr>
              <a:t>LM Studio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767328" y="2862072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79392" y="27157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023360" y="26334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23360" y="2633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OpenAI API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596128" y="2862072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08192" y="271576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852160" y="2633472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52160" y="26334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Local Server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635240" y="777240"/>
            <a:ext cx="1417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80960" y="7772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🔒  Privacy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635240" y="1280160"/>
            <a:ext cx="1417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80960" y="12801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📡  Offline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635240" y="1783080"/>
            <a:ext cx="1417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80960" y="17830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💰  No API Cost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635240" y="2286000"/>
            <a:ext cx="1417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80960" y="2286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⚙️  Custom Models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65760" y="3264408"/>
            <a:ext cx="7132320" cy="621792"/>
          </a:xfrm>
          <a:prstGeom prst="rect">
            <a:avLst/>
          </a:prstGeom>
          <a:solidFill>
            <a:srgbClr val="0A0F1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7200" y="3264408"/>
            <a:ext cx="6949440" cy="62179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Endpoint:  </a:t>
            </a:r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http://&lt;your-ip&gt;:1234/v1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635240" y="3264408"/>
            <a:ext cx="141732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35240" y="3264408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Compatible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365760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94A3B8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Running Local LLMs with LM Studio and Remote Access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95528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 / 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7705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095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558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411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337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800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329184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57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Architecture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228600" y="841248"/>
            <a:ext cx="201168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8412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📱  Android Phone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40280" y="1078992"/>
            <a:ext cx="105156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1399032"/>
            <a:ext cx="201168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" y="139903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💻  Laptop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40280" y="1636776"/>
            <a:ext cx="1051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1956816"/>
            <a:ext cx="201168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195681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🌐  Browser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40280" y="2194560"/>
            <a:ext cx="105156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2514600"/>
            <a:ext cx="201168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" y="251460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{}  VS Code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240280" y="2752344"/>
            <a:ext cx="10515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3072384"/>
            <a:ext cx="2011680" cy="475488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072384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&gt;_  Terminal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40280" y="3310128"/>
            <a:ext cx="105156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67712" y="886968"/>
            <a:ext cx="36576" cy="273314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80360" y="914400"/>
            <a:ext cx="1097280" cy="1097280"/>
          </a:xfrm>
          <a:prstGeom prst="ellipse">
            <a:avLst/>
          </a:prstGeom>
          <a:solidFill>
            <a:srgbClr val="0F172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90500" dist="50800" dir="8100000">
              <a:srgbClr val="F59E0B">
                <a:alpha val="5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880360" y="914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Wi-Fi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Router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95928" y="1463040"/>
            <a:ext cx="11887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1316736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▶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12080" y="1051560"/>
            <a:ext cx="1920240" cy="1188720"/>
          </a:xfrm>
          <a:prstGeom prst="rect">
            <a:avLst/>
          </a:prstGeom>
          <a:solidFill>
            <a:srgbClr val="111827"/>
          </a:solidFill>
          <a:ln w="25400">
            <a:solidFill>
              <a:srgbClr val="4F46E5"/>
            </a:solidFill>
            <a:prstDash val="solid"/>
          </a:ln>
          <a:effectLst>
            <a:outerShdw sx="100000" sy="100000" kx="0" ky="0" algn="bl" rotWithShape="0" blurRad="190500" dist="50800" dir="8100000">
              <a:srgbClr val="4F46E5">
                <a:alpha val="6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21208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LM Studio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Server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303520" y="1709928"/>
            <a:ext cx="1737360" cy="411480"/>
          </a:xfrm>
          <a:prstGeom prst="rect">
            <a:avLst/>
          </a:prstGeom>
          <a:solidFill>
            <a:srgbClr val="0A0F1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17099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 :1234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72200" y="2258568"/>
            <a:ext cx="0" cy="5029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26791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</a:rPr>
              <a:t>▼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92040" y="2926080"/>
            <a:ext cx="2377440" cy="713232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29260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🤖  Local 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google/gemma-4b-e2b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9520" y="1005840"/>
            <a:ext cx="1463040" cy="1371600"/>
          </a:xfrm>
          <a:prstGeom prst="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10515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API Endpoints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80960" y="1344168"/>
            <a:ext cx="1280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62672" y="1389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/v1/models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662672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/v1/chat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/completions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150608" y="1508760"/>
            <a:ext cx="43891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228600" y="3749040"/>
            <a:ext cx="8686800" cy="457200"/>
          </a:xfrm>
          <a:prstGeom prst="rect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7490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  Single endpoint  →  Many clients simultaneously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Running Local LLMs with LM Studio and Remote Access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95528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 / 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7705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095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558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411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337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800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329184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57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Access the LLM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64592" y="777240"/>
            <a:ext cx="4297680" cy="1783080"/>
          </a:xfrm>
          <a:prstGeom prst="rect">
            <a:avLst/>
          </a:prstGeom>
          <a:solidFill>
            <a:srgbClr val="111827"/>
          </a:solidFill>
          <a:ln w="2286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777240"/>
            <a:ext cx="4297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📱  Chatbox AI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56032" y="132588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132588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Chatbox AI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56716" y="136245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284732" y="132588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4732" y="132588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Wi-Fi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85416" y="136245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→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13432" y="132588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13432" y="132588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LM Studio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14116" y="136245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→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42132" y="132588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42132" y="132588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Gemma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56032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Android · Windows · Mac · Linux · Web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2093976"/>
            <a:ext cx="4114800" cy="347472"/>
          </a:xfrm>
          <a:prstGeom prst="rect">
            <a:avLst/>
          </a:prstGeom>
          <a:solidFill>
            <a:srgbClr val="0A0F1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20939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URL: http://IP:1234/v1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45152" y="777240"/>
            <a:ext cx="4297680" cy="1783080"/>
          </a:xfrm>
          <a:prstGeom prst="rect">
            <a:avLst/>
          </a:prstGeom>
          <a:solidFill>
            <a:srgbClr val="111827"/>
          </a:solidFill>
          <a:ln w="2286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45152" y="777240"/>
            <a:ext cx="4297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36592" y="868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🌐  Browser API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736592" y="1325880"/>
            <a:ext cx="12618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1325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Browser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980176" y="136245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→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08192" y="1325880"/>
            <a:ext cx="12618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8192" y="1325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GET /v1/models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51776" y="136245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→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79792" y="1325880"/>
            <a:ext cx="12618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9792" y="1325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JSON Response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36592" y="1737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 "google/gemma-4b-e2b" }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36592" y="2093976"/>
            <a:ext cx="4114800" cy="347472"/>
          </a:xfrm>
          <a:prstGeom prst="rect">
            <a:avLst/>
          </a:prstGeom>
          <a:solidFill>
            <a:srgbClr val="0A0F1E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82312" y="20939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install needed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64592" y="2651760"/>
            <a:ext cx="4297680" cy="1783080"/>
          </a:xfrm>
          <a:prstGeom prst="rect">
            <a:avLst/>
          </a:prstGeom>
          <a:solidFill>
            <a:srgbClr val="111827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164592" y="2651760"/>
            <a:ext cx="4297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6032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&gt;_  Terminal (llm CLI)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256032" y="3200400"/>
            <a:ext cx="12618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" y="32004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llm chat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499616" y="32369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627632" y="3200400"/>
            <a:ext cx="12618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27632" y="32004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LM Studio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871216" y="32369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→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999232" y="3200400"/>
            <a:ext cx="12618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999232" y="320040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Gemma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256032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llm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chat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6032" y="3968496"/>
            <a:ext cx="4114800" cy="347472"/>
          </a:xfrm>
          <a:prstGeom prst="rect">
            <a:avLst/>
          </a:prstGeom>
          <a:solidFill>
            <a:srgbClr val="0A0F1E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1752" y="39684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Write quicksort → AI responds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645152" y="2651760"/>
            <a:ext cx="4297680" cy="1783080"/>
          </a:xfrm>
          <a:prstGeom prst="rect">
            <a:avLst/>
          </a:prstGeom>
          <a:solidFill>
            <a:srgbClr val="111827"/>
          </a:solidFill>
          <a:ln w="2286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4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45152" y="2651760"/>
            <a:ext cx="4297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2743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{}  VS Code + Continue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4736592" y="320040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36592" y="320040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VS Code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37276" y="32369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→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765292" y="320040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65292" y="320040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Continue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6665976" y="32369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→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793992" y="320040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93992" y="320040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LM Studio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694676" y="32369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→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822692" y="3200400"/>
            <a:ext cx="918972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22692" y="320040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Gemma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4736592" y="3611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→ AI completion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736592" y="3968496"/>
            <a:ext cx="4114800" cy="347472"/>
          </a:xfrm>
          <a:prstGeom prst="rect">
            <a:avLst/>
          </a:prstGeom>
          <a:solidFill>
            <a:srgbClr val="0A0F1E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82312" y="39684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coding assistant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4F46E5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50800" dir="8100000">
              <a:srgbClr val="4F46E5">
                <a:alpha val="70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4206240" y="1691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Running Local LLMs with LM Studio and Remote Access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95528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 / 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463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7705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095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1558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8484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4112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38744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23376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8008" y="0"/>
            <a:ext cx="0" cy="5143500"/>
          </a:xfrm>
          <a:prstGeom prst="line">
            <a:avLst/>
          </a:prstGeom>
          <a:noFill/>
          <a:ln w="6350">
            <a:solidFill>
              <a:srgbClr val="1A27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329184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5720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7315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  –  LiteLLM Gateway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74320" y="548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777240"/>
            <a:ext cx="960120" cy="420624"/>
          </a:xfrm>
          <a:prstGeom prst="ellipse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77724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👤 js-chetan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344168" y="777240"/>
            <a:ext cx="960120" cy="420624"/>
          </a:xfrm>
          <a:prstGeom prst="ellipse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44168" y="77724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👤 js-ravi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14016" y="777240"/>
            <a:ext cx="960120" cy="420624"/>
          </a:xfrm>
          <a:prstGeom prst="ellipse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14016" y="77724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👤 js-user01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54380" y="1197864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4228" y="1197864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94076" y="1197864"/>
            <a:ext cx="0" cy="2286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" y="1426464"/>
            <a:ext cx="93726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94076" y="1426464"/>
            <a:ext cx="-1202436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91640" y="1426464"/>
            <a:ext cx="0" cy="201168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81912" y="157276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▼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1783080"/>
            <a:ext cx="3017520" cy="566928"/>
          </a:xfrm>
          <a:prstGeom prst="rect">
            <a:avLst/>
          </a:prstGeom>
          <a:solidFill>
            <a:srgbClr val="111827"/>
          </a:solidFill>
          <a:ln w="31750">
            <a:solidFill>
              <a:srgbClr val="10B981"/>
            </a:solidFill>
            <a:prstDash val="solid"/>
          </a:ln>
          <a:effectLst>
            <a:outerShdw sx="100000" sy="100000" kx="0" ky="0" algn="bl" rotWithShape="0" blurRad="190500" dist="50800" dir="8100000">
              <a:srgbClr val="10B981">
                <a:alpha val="6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178308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⚡  LiteLLM Gateway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783080" y="2350008"/>
            <a:ext cx="0" cy="256032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73352" y="25511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46E5"/>
                </a:solidFill>
              </a:rPr>
              <a:t>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2770632"/>
            <a:ext cx="3017520" cy="530352"/>
          </a:xfrm>
          <a:prstGeom prst="rect">
            <a:avLst/>
          </a:prstGeom>
          <a:solidFill>
            <a:srgbClr val="111827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77063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🖥️  LM Studio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783080" y="3300984"/>
            <a:ext cx="0" cy="201168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73352" y="34472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</a:rPr>
              <a:t>▼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36118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Multiple Models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3813048"/>
            <a:ext cx="914400" cy="365760"/>
          </a:xfrm>
          <a:prstGeom prst="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3813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Gemma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298448" y="3813048"/>
            <a:ext cx="914400" cy="365760"/>
          </a:xfrm>
          <a:prstGeom prst="rect">
            <a:avLst/>
          </a:prstGeom>
          <a:solidFill>
            <a:srgbClr val="0F172A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98448" y="3813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Llama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322576" y="3813048"/>
            <a:ext cx="914400" cy="365760"/>
          </a:xfrm>
          <a:prstGeom prst="rect">
            <a:avLst/>
          </a:prstGeom>
          <a:solidFill>
            <a:srgbClr val="0F172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22576" y="38130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DeepSeek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977640" y="548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LiteLLM Features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977640" y="822960"/>
            <a:ext cx="246888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69080" y="822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🔑  API Keys per user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977640" y="1389888"/>
            <a:ext cx="246888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69080" y="13898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⏱️  Rate Limiting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977640" y="1956816"/>
            <a:ext cx="246888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69080" y="195681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Usage Tracking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977640" y="2523744"/>
            <a:ext cx="246888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69080" y="25237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👥  User Access Control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977640" y="3090672"/>
            <a:ext cx="2468880" cy="45720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69080" y="30906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📈  Scalability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583680" y="548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Before  →  After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583680" y="822960"/>
            <a:ext cx="1143000" cy="914400"/>
          </a:xfrm>
          <a:prstGeom prst="rect">
            <a:avLst/>
          </a:prstGeom>
          <a:solidFill>
            <a:srgbClr val="111827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3680" y="8229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Direct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Access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No control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754112" y="114300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→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973568" y="822960"/>
            <a:ext cx="1143000" cy="914400"/>
          </a:xfrm>
          <a:prstGeom prst="rect">
            <a:avLst/>
          </a:prstGeom>
          <a:solidFill>
            <a:srgbClr val="11182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73568" y="822960"/>
            <a:ext cx="1143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Managed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Access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Full control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583680" y="1874520"/>
            <a:ext cx="2532888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29400" y="1874520"/>
            <a:ext cx="244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🏫  Classroom / Lab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20–30 students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One shared LLM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0" y="4343400"/>
            <a:ext cx="9144000" cy="457200"/>
          </a:xfrm>
          <a:prstGeom prst="rect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43434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LiteLLM = OpenAI-compatible proxy with enterprise controls — perfect for multi-user academic labs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Running Local LLMs with LM Studio and Remote Access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955280" y="4864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4 / 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Running Local LLMs with LM Studio and Remote Access</dc:title>
  <dc:subject>PptxGenJS Presentation</dc:subject>
  <dc:creator>PptxGenJS</dc:creator>
  <cp:lastModifiedBy>PptxGenJS</cp:lastModifiedBy>
  <cp:revision>1</cp:revision>
  <dcterms:created xsi:type="dcterms:W3CDTF">2026-05-18T09:46:03Z</dcterms:created>
  <dcterms:modified xsi:type="dcterms:W3CDTF">2026-05-18T09:46:03Z</dcterms:modified>
</cp:coreProperties>
</file>